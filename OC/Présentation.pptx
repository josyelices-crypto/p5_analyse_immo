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914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134" y="3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8C10D-89A4-E5A7-AC0F-481D6BE7B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EB3D95-97FF-335B-54CA-DEACF0F0B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6E67DF-64D1-1849-8C8C-BFA313D8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5F7692-A122-1412-ED1E-6144C335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799380-7424-4CDF-1455-691F819A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364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B2244D-247F-D05B-BEEF-575EDF6D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F290B5-5749-2B95-99CE-FB63FDFF5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BF8576-C870-9F25-FB8C-EB57F759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E5DC67-1C73-66DC-7359-7311EAE7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2FD85D-8346-80C6-2797-E4451F42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29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DBBE12-1E5E-C721-722B-BFCD148E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D96846-3576-1B0D-6DC0-A2F1F8868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A018F3-099C-DD36-5727-AAD3B51A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7A69BA-288B-3AAE-21C1-EB7C32079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78F9EB-1B64-EBFD-64E3-6A25E9E3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453622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1D9A59-321C-838B-571F-5FD733E9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8F6046-58A1-3D86-8B9D-73857567B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0F20807-CB67-8052-D7F4-C5919188E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183FBE-43D9-446C-477D-2D455365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710B5F-783D-86B0-5E40-24C89608B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D9D11C-18D9-4A16-90D5-3FE02234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2245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81820-2DEB-1E0C-DDCE-844042B9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857EBD-74B1-189B-73F0-B9A3E02D7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142AB0-BC47-AFAD-3DF7-83C1C4D7A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9E7D22-9AD7-11AC-30AD-744848EF7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46961C-F869-7170-F5F3-3ACD849E6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203E900-A8CB-B9E5-B072-7F43F74D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03D983-BE87-E191-722E-1D0F6927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F2BA03-994E-63FF-D1E3-64BD7F40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7579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DA3FD-42B8-F1BE-34BB-771E6D6F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08DF88-2694-75A8-5059-BAEBAC97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FC3485-6561-BDB2-BB04-00A5B4635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E0747E-257F-8E8D-6CBC-E362111B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38091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29B031-1175-BCA9-FC96-44FE9272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83BDBF-BB50-F060-49CF-8A582C4C0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18D1BB-8C59-0EB2-1048-F48C257D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44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FFF866-2E30-B0B0-A02A-500A15FE0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A902A9-FA40-E514-52C0-DE09D7451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D751FB-E495-8825-5784-8C57B148D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886B98-FFC7-1BB1-C692-13E2AAE1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B39173-80E9-1CC3-A85C-F95AC3FE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7A9BC6-C49D-1F55-6460-92FCE823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940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527B8C-B016-967B-5707-6BF4E744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66ACAF-63FB-6F71-18E2-680F42032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5AAFBC0-B9BE-B466-8ABB-AAE15DAD3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5D97BA-E3FD-9DFB-E41C-08222B64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6441AC-4684-1181-D4FE-4E3517D9F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5C9A3A-0C1D-D119-5FB6-72CDC980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12042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AEBB5-F61E-A2C4-7DCF-F0364948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04448E-540C-24B1-82D0-3DF139C64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4138BA-B8D9-2153-AB46-DA831F32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4CE511-AA6E-AA58-6916-3E7487A51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DC9537-D4F3-409F-6A35-CFBB4330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51236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6425A6D-9D19-B774-44AD-6F0C4D6FC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7B0398-0534-C292-62CF-8F0CAB521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092340-679C-A7F9-1239-0020CF53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37B58-F2CC-A346-C223-EAC7EC7F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61C206-7D31-152B-6259-29CEB622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91903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1964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8678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83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951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4035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C9A96C8-CDB5-65AB-C704-50756E8C7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471E7A-1239-621A-05CD-7FA635390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3C02A4-02FD-FDF4-5FA9-CD77CCBBF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87BF6-C2C9-4C0C-A936-478B1776CA16}" type="datetimeFigureOut">
              <a:rPr lang="fr-FR" smtClean="0"/>
              <a:t>18/12/2025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154F01-FF02-3239-E3ED-CA1765078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B19AAE-D33F-BA48-3C73-E1875FD89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95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89725B-A695-7D13-25B9-C8643B3A371D}"/>
              </a:ext>
            </a:extLst>
          </p:cNvPr>
          <p:cNvSpPr/>
          <p:nvPr/>
        </p:nvSpPr>
        <p:spPr>
          <a:xfrm>
            <a:off x="0" y="0"/>
            <a:ext cx="9144000" cy="273074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24097" y="240632"/>
            <a:ext cx="8295806" cy="1405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lvl="0" algn="ctr">
              <a:buSzPct val="100000"/>
            </a:pPr>
            <a:r>
              <a:rPr lang="f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Création et utilisation de la base de données</a:t>
            </a:r>
            <a:br>
              <a:rPr lang="fr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f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altLang="fr-FR" sz="2000" dirty="0">
                <a:solidFill>
                  <a:schemeClr val="bg1"/>
                </a:solidFill>
                <a:latin typeface="Arial" panose="020B0604020202020204" pitchFamily="34" charset="0"/>
              </a:rPr>
              <a:t>Analyse du marché immobilier et démographique</a:t>
            </a:r>
            <a:endParaRPr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7183790" y="4280131"/>
            <a:ext cx="1536113" cy="29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fr-FR" altLang="fr-FR" sz="1100" dirty="0">
                <a:solidFill>
                  <a:schemeClr val="tx1"/>
                </a:solidFill>
                <a:latin typeface="Arial" panose="020B0604020202020204" pitchFamily="34" charset="0"/>
              </a:rPr>
              <a:t>Josy ELICES-DIEZ</a:t>
            </a:r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281363"/>
            <a:ext cx="4036241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69;p34">
            <a:extLst>
              <a:ext uri="{FF2B5EF4-FFF2-40B4-BE49-F238E27FC236}">
                <a16:creationId xmlns:a16="http://schemas.microsoft.com/office/drawing/2014/main" id="{C8235D78-D3BB-EB30-2068-DAA4734B8456}"/>
              </a:ext>
            </a:extLst>
          </p:cNvPr>
          <p:cNvSpPr txBox="1">
            <a:spLocks/>
          </p:cNvSpPr>
          <p:nvPr/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7C83DC3-F06A-C2E8-6924-37DFD184C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8463" y="2736760"/>
            <a:ext cx="964999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Objectif :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Centraliser les données de ventes immobilières et les données démographiques de l'INSEE pour analyser le marché.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Problématique :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Identifier les zones les plus dynamiques et les corrélations entre population et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Outils utilisés :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SQLite pour la base de données,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DBeaver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l'administration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/>
              <a:t>Contexte du projet</a:t>
            </a:r>
            <a:endParaRPr dirty="0"/>
          </a:p>
        </p:txBody>
      </p:sp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2</a:t>
            </a:r>
            <a:endParaRPr dirty="0"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7B1F6C-5A60-CB37-5ABE-2914BB44E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5" y="2378521"/>
            <a:ext cx="802187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Sauvegarde :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Export hebdomadaire des scripts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sql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et sauvegarde de la base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sur un stockage sécurisé (Cloud privé)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RGPD :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Anonymisation des données : Les noms des acheteurs/vendeurs ne sont pas stockés.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Finalité : Les données sont utilisées exclusivement pour des analyses statistiques.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Conservation : Limitation de la durée de stockage des données brutes.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dirty="0"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97A0F4-C64B-80C0-7A72-8C37B396B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5" y="2193856"/>
            <a:ext cx="796970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Sources :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communes.csv : Données de population INSEE.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valeurs_foncieres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.csv : Historique des ventes immobilières.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fr-FR" sz="1200" b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referentiel_geographique</a:t>
            </a:r>
            <a:r>
              <a:rPr lang="fr-FR" altLang="fr-FR" sz="1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Données géographique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Nettoyage effectué :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Gestion des doublons, correction des codes départements (Aisne 02, Corse 2A/2B) et traitement des arrondissements (Paris, Lyon, Marseille).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dirty="0"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dirty="0"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7349704" cy="58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pic>
        <p:nvPicPr>
          <p:cNvPr id="7" name="Image 6" descr="Une image contenant texte, logiciel, Icône d’ordinateur, nombre&#10;&#10;Le contenu généré par l’IA peut être incorrect.">
            <a:extLst>
              <a:ext uri="{FF2B5EF4-FFF2-40B4-BE49-F238E27FC236}">
                <a16:creationId xmlns:a16="http://schemas.microsoft.com/office/drawing/2014/main" id="{F4A57D5A-56C3-38DE-D475-A0DA148FF2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3" t="25825" r="20421" b="27579"/>
          <a:stretch>
            <a:fillRect/>
          </a:stretch>
        </p:blipFill>
        <p:spPr>
          <a:xfrm>
            <a:off x="120710" y="1279210"/>
            <a:ext cx="8902580" cy="30906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>
            <a:spLocks noGrp="1"/>
          </p:cNvSpPr>
          <p:nvPr>
            <p:ph type="body" idx="1"/>
          </p:nvPr>
        </p:nvSpPr>
        <p:spPr>
          <a:xfrm>
            <a:off x="6442910" y="1664396"/>
            <a:ext cx="2273699" cy="181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>
              <a:spcBef>
                <a:spcPts val="0"/>
              </a:spcBef>
            </a:pPr>
            <a:r>
              <a:rPr lang="fr-FR" sz="1200" b="0" dirty="0"/>
              <a:t>Points clés : Relation 1:N entre REGION et DEPARTEMENT, et entre COMMUNE et BIEN. Normalisation en 3ème Forme Normale (3NF) pour éviter la redondance.</a:t>
            </a:r>
            <a:endParaRPr sz="1200" b="0" dirty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 dirty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dirty="0"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7763590" cy="709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Le schéma relationnel normalisé</a:t>
            </a:r>
            <a:endParaRPr b="0" dirty="0"/>
          </a:p>
        </p:txBody>
      </p:sp>
      <p:pic>
        <p:nvPicPr>
          <p:cNvPr id="5" name="Image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E988C82D-CFD7-4229-99A5-147DF2EECD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63" t="14410" r="47263" b="47890"/>
          <a:stretch>
            <a:fillRect/>
          </a:stretch>
        </p:blipFill>
        <p:spPr>
          <a:xfrm>
            <a:off x="506209" y="1241232"/>
            <a:ext cx="5936701" cy="33596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241ED1-01AF-D84D-A881-C9D43D72A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9008" y="2674382"/>
            <a:ext cx="4450778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Capture d'écran de l'arborescence </a:t>
            </a:r>
            <a:r>
              <a:rPr kumimoji="0" lang="fr-FR" altLang="fr-FR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DBeaver</a:t>
            </a:r>
            <a:r>
              <a:rPr kumimoji="0" lang="fr-FR" altLang="fr-F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montrant les tables : REGION, DEPARTEMENT, COMMUNE, BIEN, POPULATION_COM.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fr-FR" alt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Statistiques de chargement :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~35 000 communes importées.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Population totale agrégée avec succès pour les grandes villes (Paris, Lyon, Marseille).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2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Périmètre Géographique :</a:t>
            </a:r>
            <a:r>
              <a:rPr lang="fr-FR" altLang="fr-FR" sz="11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100 départements (France Métropolitaine + DOM). ~34 800 communes rattachées.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altLang="fr-FR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Exclusion :</a:t>
            </a:r>
            <a:r>
              <a:rPr lang="fr-FR" altLang="fr-FR" sz="11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Collectivités territoriales (98) pour garantir la cohérence des indicateurs immobiliers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 dirty="0">
                <a:solidFill>
                  <a:srgbClr val="9E9E9E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7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26410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>
                <a:latin typeface="Arial" panose="020B0604020202020204" pitchFamily="34" charset="0"/>
                <a:cs typeface="Arial" panose="020B0604020202020204" pitchFamily="34" charset="0"/>
              </a:rPr>
              <a:t>La base de données avec les tables créées et les données chargées</a:t>
            </a:r>
            <a:endParaRPr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1121E1FA-199F-CDE3-773C-BD37D1C7E8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59" r="61368" b="61450"/>
          <a:stretch>
            <a:fillRect/>
          </a:stretch>
        </p:blipFill>
        <p:spPr>
          <a:xfrm>
            <a:off x="659376" y="1236482"/>
            <a:ext cx="3532472" cy="1578544"/>
          </a:xfrm>
          <a:prstGeom prst="rect">
            <a:avLst/>
          </a:prstGeom>
        </p:spPr>
      </p:pic>
      <p:pic>
        <p:nvPicPr>
          <p:cNvPr id="7" name="Image 6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2240F07A-341B-855E-7526-62D0183CF0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2" t="17216" r="57579" b="10924"/>
          <a:stretch>
            <a:fillRect/>
          </a:stretch>
        </p:blipFill>
        <p:spPr>
          <a:xfrm>
            <a:off x="4972264" y="723699"/>
            <a:ext cx="3782728" cy="3696101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0B85AB15-C344-7262-F587-AF39DDCAF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DE07CD-85AC-84F8-0AD5-8473889ED23A}"/>
              </a:ext>
            </a:extLst>
          </p:cNvPr>
          <p:cNvSpPr txBox="1"/>
          <p:nvPr/>
        </p:nvSpPr>
        <p:spPr>
          <a:xfrm>
            <a:off x="4745285" y="4243254"/>
            <a:ext cx="5823253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L'intégralité :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Tu as toutes les communes du département 976 (Mayotte).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propreté :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Tu as éliminé les doublons en "985" qui auraient pu fausser tes calculs de population totale.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précision :</a:t>
            </a: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Tes codes sont bien à 6 chiffres (le standard Insee pour les DOM), ce qui montre que tu n'as pas perdu de données </a:t>
            </a:r>
            <a:endParaRPr lang="fr-FR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lang="fr" dirty="0"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 smtClean="0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fr"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8071598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-FR" sz="2400" b="0"/>
              <a:t>Les requêtes ou screenshot qui permettent de démontrer le bon chargement des données</a:t>
            </a:r>
            <a:endParaRPr lang="fr-FR" sz="2400" b="0" dirty="0"/>
          </a:p>
        </p:txBody>
      </p:sp>
      <p:pic>
        <p:nvPicPr>
          <p:cNvPr id="5" name="Image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ED7D2D5E-D05C-58DC-B98D-B1F3E5D897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7" t="13286" r="64316" b="51345"/>
          <a:stretch>
            <a:fillRect/>
          </a:stretch>
        </p:blipFill>
        <p:spPr>
          <a:xfrm>
            <a:off x="389008" y="1238651"/>
            <a:ext cx="4410116" cy="2666198"/>
          </a:xfrm>
          <a:prstGeom prst="rect">
            <a:avLst/>
          </a:prstGeom>
        </p:spPr>
      </p:pic>
      <p:pic>
        <p:nvPicPr>
          <p:cNvPr id="7" name="Image 6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F3274624-5BC9-D208-2B3D-7A944D45D7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76" t="11790" r="66845" b="24082"/>
          <a:stretch>
            <a:fillRect/>
          </a:stretch>
        </p:blipFill>
        <p:spPr>
          <a:xfrm>
            <a:off x="5284269" y="874718"/>
            <a:ext cx="3278089" cy="3892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Sous-titre</a:t>
            </a:r>
            <a:endParaRPr/>
          </a:p>
        </p:txBody>
      </p:sp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3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23;p40">
            <a:extLst>
              <a:ext uri="{FF2B5EF4-FFF2-40B4-BE49-F238E27FC236}">
                <a16:creationId xmlns:a16="http://schemas.microsoft.com/office/drawing/2014/main" id="{970F4782-FBE3-209F-E142-DD0D1C1130F9}"/>
              </a:ext>
            </a:extLst>
          </p:cNvPr>
          <p:cNvSpPr txBox="1">
            <a:spLocks/>
          </p:cNvSpPr>
          <p:nvPr/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900" dirty="0">
                <a:solidFill>
                  <a:srgbClr val="9E9E9E"/>
                </a:solidFill>
                <a:latin typeface="Calibri"/>
                <a:cs typeface="Calibri"/>
                <a:sym typeface="Calibri"/>
              </a:rPr>
              <a:t>9</a:t>
            </a:r>
            <a:endParaRPr lang="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Titre requête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10</a:t>
            </a:r>
            <a:endParaRPr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</a:t>
            </a:r>
            <a:endParaRPr/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lang="f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77" r="20777"/>
          <a:stretch/>
        </p:blipFill>
        <p:spPr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23;p40">
            <a:extLst>
              <a:ext uri="{FF2B5EF4-FFF2-40B4-BE49-F238E27FC236}">
                <a16:creationId xmlns:a16="http://schemas.microsoft.com/office/drawing/2014/main" id="{F360D4DA-F363-CEF3-F38D-D50629B1B4F5}"/>
              </a:ext>
            </a:extLst>
          </p:cNvPr>
          <p:cNvSpPr txBox="1">
            <a:spLocks/>
          </p:cNvSpPr>
          <p:nvPr/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" sz="900" dirty="0">
                <a:solidFill>
                  <a:srgbClr val="9E9E9E"/>
                </a:solidFill>
                <a:latin typeface="Calibri"/>
                <a:cs typeface="Calibri"/>
                <a:sym typeface="Calibri"/>
              </a:rPr>
              <a:t>11</a:t>
            </a:r>
            <a:endParaRPr lang="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462</Words>
  <Application>Microsoft Office PowerPoint</Application>
  <PresentationFormat>Affichage à l'écran (16:9)</PresentationFormat>
  <Paragraphs>76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Arial</vt:lpstr>
      <vt:lpstr>Aptos</vt:lpstr>
      <vt:lpstr>Arial Unicode MS</vt:lpstr>
      <vt:lpstr>Aptos Display</vt:lpstr>
      <vt:lpstr>Calibri</vt:lpstr>
      <vt:lpstr>Simple Light</vt:lpstr>
      <vt:lpstr>Thème Office</vt:lpstr>
      <vt:lpstr>Création et utilisation de la base de données  Analyse du marché immobilier et démographique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xavier ELICES-DIEZ</dc:creator>
  <cp:lastModifiedBy>xavier ELICES-DIEZ</cp:lastModifiedBy>
  <cp:revision>3</cp:revision>
  <dcterms:modified xsi:type="dcterms:W3CDTF">2025-12-19T09:23:07Z</dcterms:modified>
</cp:coreProperties>
</file>